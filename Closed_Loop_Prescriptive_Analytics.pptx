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2926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515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Segoe UI"/>
              </a:defRPr>
            </a:pPr>
            <a:r>
              <a:t>ENTERPRISE SUPPLY CHAIN INTELLIGENCE &amp;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Closed-Loop Prescriptive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  <a:latin typeface="Segoe UI"/>
              </a:defRPr>
            </a:pPr>
            <a:r>
              <a:t>Autonomous Disruption Mitigation via Predictive ML, Mixed-Integer Linear Programming (MILP), and Operational Closed-Loop Feedback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2542032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EA5E9"/>
                </a:solidFill>
                <a:latin typeface="Segoe UI"/>
              </a:defRPr>
            </a:pPr>
            <a:r>
              <a:t>🔮 Predictive ML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Dual XGBoost Classifier + Regressor (ROC-AUC 0.72+)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4389120"/>
            <a:ext cx="2542032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452628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EA5E9"/>
                </a:solidFill>
                <a:latin typeface="Segoe UI"/>
              </a:defRPr>
            </a:pPr>
            <a:r>
              <a:t>⚡ Prescriptive MILP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PuLP Optimization under Hard Cost &amp; SLA Constraints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4389120"/>
            <a:ext cx="2542032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452628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EA5E9"/>
                </a:solidFill>
                <a:latin typeface="Segoe UI"/>
              </a:defRPr>
            </a:pPr>
            <a:r>
              <a:t>🔄 Closed-Loop Feedback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Carrier Surcharge Tracking &amp; Auto-Recalibration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4389120"/>
            <a:ext cx="2542032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3416" y="452628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EA5E9"/>
                </a:solidFill>
                <a:latin typeface="Segoe UI"/>
              </a:defRPr>
            </a:pPr>
            <a:r>
              <a:t>🇮🇳 INR Localized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Denominated in Indian Rupees (₹) with ACID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INDUSTRY CHALLENGE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Cost of Reactive Firefighting in Modern Logistics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2971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DC2626"/>
                </a:solidFill>
                <a:latin typeface="Segoe UI"/>
              </a:defRPr>
            </a:pPr>
            <a:r>
              <a:t>THE PROBLEM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Unmitigated Disruptions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 Fragile Just-In-Time (JIT) supply chains lack contingency buffers.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 Late delivery breaches trigger severe contract SLA penalties (₹10,000+ per delay day).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 Brand reputation damage exceeds physical freight value by up to 3x.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 Operators rely on reactive intuition rather than mathematical optimization.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508760"/>
            <a:ext cx="2971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THE GAP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Predictive Models Are Not Enough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 Standard ML models predict delays ('Shipment X is late') but provide NO action guidance.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 Human logistics dispatchers cannot evaluate 50+ routing options against budget constraints in real time.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 Disconnected systems fail to track whether expedited actions actually achieved financial ROI.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 Lack of audit trail leads to unchecked expediting budget overruns.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8016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508760"/>
            <a:ext cx="2971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59669"/>
                </a:solidFill>
                <a:latin typeface="Segoe UI"/>
              </a:defRPr>
            </a:pPr>
            <a:r>
              <a:t>THE SOLUTION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Supply Prescript Paradigm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 Prescribe, don't just predict: Solve mathematically optimal interventions.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 Constrained MILP: Strictly respect operational budget caps (₹) and customer SLA limits.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 Closed-Loop Realization: Compare quoted vs realized freight bills to capture carrier surcharges.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•  Continuous Self-Correction: Automatically trigger ML retraining on outcome divergence.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ARCHITECTURE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Closed-Loop Prescriptive Intelligence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1. Data Ingestion &amp; Features</a:t>
            </a:r>
          </a:p>
          <a:p>
            <a:pPr>
              <a:spcAft>
                <a:spcPts val="1400"/>
              </a:spcAft>
              <a:defRPr sz="900" b="1">
                <a:solidFill>
                  <a:srgbClr val="64748B"/>
                </a:solidFill>
                <a:latin typeface="Segoe UI"/>
              </a:defRPr>
            </a:pPr>
            <a:r>
              <a:t>Kaggle DataCo Supply Chain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▸  Scheduled vs real transit times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▸  Multi-category shipping profiles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▸  Carrier baseline risk priors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▸  Cargo value &amp; criticality tiers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371600"/>
            <a:ext cx="25603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55448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2. Predictive ML Engine</a:t>
            </a:r>
          </a:p>
          <a:p>
            <a:pPr>
              <a:spcAft>
                <a:spcPts val="1400"/>
              </a:spcAft>
              <a:defRPr sz="900" b="1">
                <a:solidFill>
                  <a:srgbClr val="64748B"/>
                </a:solidFill>
                <a:latin typeface="Segoe UI"/>
              </a:defRPr>
            </a:pPr>
            <a:r>
              <a:t>Dual XGBoost Pipelines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▸  Classifier: Delay Probability P(Late)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▸  Regressor: Expected Delay (Days)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▸  Trained on 180,000+ historical orders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▸  Dynamic feature encoding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371600"/>
            <a:ext cx="25603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55448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3. Prescriptive Solver</a:t>
            </a:r>
          </a:p>
          <a:p>
            <a:pPr>
              <a:spcAft>
                <a:spcPts val="1400"/>
              </a:spcAft>
              <a:defRPr sz="900" b="1">
                <a:solidFill>
                  <a:srgbClr val="64748B"/>
                </a:solidFill>
                <a:latin typeface="Segoe UI"/>
              </a:defRPr>
            </a:pPr>
            <a:r>
              <a:t>MILP Optimization (PuLP)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▸  Formulates candidate intervention space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▸  Objective: Minimize Disruption Loss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▸  Hard Budget Constraint (B_max in ₹)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▸  Guaranteed mathematical feasibility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371600"/>
            <a:ext cx="25603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155448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4. Operational Closed Loop</a:t>
            </a:r>
          </a:p>
          <a:p>
            <a:pPr>
              <a:spcAft>
                <a:spcPts val="1400"/>
              </a:spcAft>
              <a:defRPr sz="900" b="1">
                <a:solidFill>
                  <a:srgbClr val="64748B"/>
                </a:solidFill>
                <a:latin typeface="Segoe UI"/>
              </a:defRPr>
            </a:pPr>
            <a:r>
              <a:t>Feedback &amp; Continuous Learning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▸  ACID SQLite transactional write-back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▸  Quoted vs realized invoice tracking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▸  Decision ROI calculation ledger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▸  Autonomous retraining trigger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PREDICTIVE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Dual XGBoost Disruption Forecasting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Predictive Modeling Methodology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Dual Pipeline Strategy: Decouples the probability of delay occurrence from the severity magnitude (days late).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XGBoost Disruption Classifier: Evaluates P(Delay &gt;= 1 day). Outputs calibrated risk probability and tier classification (CRITICAL, HIGH, MEDIUM, LOW).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XGBoost Delay Regressor: Estimates continuous lead-time delay variance in days for high-risk shipments.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Key Predictor Features: Scheduled shipping days, shipping mode base hazard, unit product price, order total, customer segment, and geographic destination region.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80160"/>
            <a:ext cx="53035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754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2563EB"/>
                </a:solidFill>
                <a:latin typeface="Segoe UI"/>
              </a:defRPr>
            </a:pPr>
            <a:r>
              <a:t>0.72+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ROC-AUC SCORE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Robust discriminatory power distinguishing on-time vs delayed shipments across global logistics lanes.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971800"/>
            <a:ext cx="53035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108960"/>
            <a:ext cx="4754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59669"/>
                </a:solidFill>
                <a:latin typeface="Segoe UI"/>
              </a:defRPr>
            </a:pPr>
            <a:r>
              <a:t>1.48 Days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MEAN ABSOLUTE ERROR (MAE)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Tight regressional precision on predicted arrival time variance, preventing costly over-buffering.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663440"/>
            <a:ext cx="53035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800600"/>
            <a:ext cx="4754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D97706"/>
                </a:solidFill>
                <a:latin typeface="Segoe UI"/>
              </a:defRPr>
            </a:pPr>
            <a:r>
              <a:t>4 Tiers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AUTOMATED TRIAGE ROUTING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Shipments automatically triaged into CRITICAL, HIGH, MEDIUM, and LOW risk tiers for prioritised intervention.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PRESCRIPTIVE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Mathematical Formulation: Mixed-Integer Linear Programming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Mathematical Model (PuLP Solver)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Objective Function (Min Total Disruption Cost):</a:t>
            </a:r>
          </a:p>
          <a:p>
            <a:pPr>
              <a:spcAft>
                <a:spcPts val="1000"/>
              </a:spcAft>
              <a:defRPr sz="950">
                <a:solidFill>
                  <a:srgbClr val="2563EB"/>
                </a:solidFill>
                <a:latin typeface="Consolas"/>
              </a:defRPr>
            </a:pPr>
            <a:r>
              <a:t>min  sum_k [ x_k * ( InterventionCost_k + ResidualDisruptionPenalty_k ) ]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Constraint 1: Mutually Exclusive Decision:</a:t>
            </a:r>
          </a:p>
          <a:p>
            <a:pPr>
              <a:spcAft>
                <a:spcPts val="1000"/>
              </a:spcAft>
              <a:defRPr sz="950">
                <a:solidFill>
                  <a:srgbClr val="2563EB"/>
                </a:solidFill>
                <a:latin typeface="Consolas"/>
              </a:defRPr>
            </a:pPr>
            <a:r>
              <a:t>sum_k x_k = 1,   where x_k in {0, 1}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Constraint 2: Hard Expediting Budget Cap:</a:t>
            </a:r>
          </a:p>
          <a:p>
            <a:pPr>
              <a:spcAft>
                <a:spcPts val="1000"/>
              </a:spcAft>
              <a:defRPr sz="950">
                <a:solidFill>
                  <a:srgbClr val="2563EB"/>
                </a:solidFill>
                <a:latin typeface="Consolas"/>
              </a:defRPr>
            </a:pPr>
            <a:r>
              <a:t>sum_k ( x_k * InterventionCost_k ) &lt;= Budget_max (in ₹)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Constraint 3: Maximum Allowable Delay Cap:</a:t>
            </a:r>
          </a:p>
          <a:p>
            <a:pPr>
              <a:spcAft>
                <a:spcPts val="1000"/>
              </a:spcAft>
              <a:defRPr sz="950">
                <a:solidFill>
                  <a:srgbClr val="2563EB"/>
                </a:solidFill>
                <a:latin typeface="Consolas"/>
              </a:defRPr>
            </a:pPr>
            <a:r>
              <a:t>sum_k ( x_k * ExpectedDelay_k ) &lt;= Delay_max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Feasibility Fallback Guarantee:</a:t>
            </a:r>
          </a:p>
          <a:p>
            <a:pPr>
              <a:spcAft>
                <a:spcPts val="1000"/>
              </a:spcAft>
              <a:defRPr sz="950">
                <a:solidFill>
                  <a:srgbClr val="2563EB"/>
                </a:solidFill>
                <a:latin typeface="Consolas"/>
              </a:defRPr>
            </a:pPr>
            <a:r>
              <a:t>If Budget_max &lt; min(Cost_k), solver safely falls back to Status Quo (₹0 expediting cost), preventing infeasibility crashes.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50876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Evaluated Candidate Action Space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Option A: Air Freight Expedite</a:t>
            </a:r>
          </a:p>
          <a:p>
            <a:pPr>
              <a:defRPr sz="900" b="1">
                <a:solidFill>
                  <a:srgbClr val="059669"/>
                </a:solidFill>
                <a:latin typeface="Segoe UI"/>
              </a:defRPr>
            </a:pPr>
            <a:r>
              <a:t>Speed: 10/10 | SLA: 99.2% | Delay: 0.0 Days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Bypasses road/sea congestion with expedited air cargo. Highest cost, maximum protection for high-value orders.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Option B: Secondary Supplier Transfer</a:t>
            </a:r>
          </a:p>
          <a:p>
            <a:pPr>
              <a:defRPr sz="900" b="1">
                <a:solidFill>
                  <a:srgbClr val="059669"/>
                </a:solidFill>
                <a:latin typeface="Segoe UI"/>
              </a:defRPr>
            </a:pPr>
            <a:r>
              <a:t>Speed: 7.5/10 | SLA: 91.5% | Delay: ~1-2 Days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Sources from pre-contracted regional warehouses. Balanced cost-to-speed ratio.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Option C: Dynamic Route Buffer</a:t>
            </a:r>
          </a:p>
          <a:p>
            <a:pPr>
              <a:defRPr sz="900" b="1">
                <a:solidFill>
                  <a:srgbClr val="059669"/>
                </a:solidFill>
                <a:latin typeface="Segoe UI"/>
              </a:defRPr>
            </a:pPr>
            <a:r>
              <a:t>Speed: 5/10 | SLA: 82.0% | Delay: Moderate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Re-routes through secondary hubs and buffers schedule. Lowest expediting cost alternative.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Option D: Status Quo (Inaction)</a:t>
            </a:r>
          </a:p>
          <a:p>
            <a:pPr>
              <a:defRPr sz="900" b="1">
                <a:solidFill>
                  <a:srgbClr val="059669"/>
                </a:solidFill>
                <a:latin typeface="Segoe UI"/>
              </a:defRPr>
            </a:pPr>
            <a:r>
              <a:t>Speed: 1/10 | Expediting Cost: ₹0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Maintains existing transit. Incurs full unmitigated disruption loss and customer SLA penalties.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RELIABILITY &amp;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Mathematical Constraint Proof &amp; Transactional Audit Trail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2971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100.0% COMPLIANCE</a:t>
            </a:r>
          </a:p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Zero Budget Violations</a:t>
            </a:r>
          </a:p>
          <a:p>
            <a:pPr>
              <a:spcAft>
                <a:spcPts val="14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Empirical stress testing proves the solver never violates operational constraints.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Evaluated across 1,000+ randomized Monte Carlo trials.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Tested under severe budget starvation (budget caps &lt; ₹10,000).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Violations detected: Exactly 0 (0.0%).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Proven mathematical guarantee suitable for corporate financial compliance.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508760"/>
            <a:ext cx="2971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ACID TRANSACTIONS</a:t>
            </a:r>
          </a:p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Transactional Write-Back</a:t>
            </a:r>
          </a:p>
          <a:p>
            <a:pPr>
              <a:spcAft>
                <a:spcPts val="14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Eliminates operational disconnect through immediate database persistence.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Operator decisions instantly update shipment lifecycle state via SQLite ACID transactions.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Atomic record creation: decision_id, approved_cost (₹), lead time target, and operator ID.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Prevents duplicate intervention conflicts across multiple dispatchers.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Full rollback protection against network and server exceptions.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8016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508760"/>
            <a:ext cx="2971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IMMUTABLE LEDGER</a:t>
            </a:r>
          </a:p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Comprehensive Audit Trail</a:t>
            </a:r>
          </a:p>
          <a:p>
            <a:pPr>
              <a:spcAft>
                <a:spcPts val="14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Complete transparency and governance for executive leadership.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Every decision, solver parameter, and status update recorded in audit_log.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Time-stamped audit entries preserve original cost allocations in INR (₹).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Provides traceability for quarterly logistics carrier reviews.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Full exportability for financial controllers and supply chain auditors.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CONTINUOUS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Closing the Operational Feedback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Realized Outcome Tracking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The Challenge of Market Reality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Freight quotes rarely equal final bills. Fuel surcharges, terminal congestion, and accessorial fees cause cost deviations of 5% to 20%.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1-Click Outcome Evaluation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When shipments arrive, actual freight bills and arrival times are synced into the outcomes ledger, computing realized cost variance (ΔC) and lead time variance (ΔD).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Decision ROI Measurement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Realized Decision ROI = ((Disruption Loss Prevented - Actual Cost) / Actual Cost) * 100%. Explicitly quantifies the exact return on every rupee spent.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Automated Model Recalibration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When accumulated outcome deviations indicate systemic drift, the engine autonomously triggers XGBoost retraining and version incrementation.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50876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Outcome Formulas &amp; Financial Metrics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Cost Variance (ΔC):</a:t>
            </a:r>
          </a:p>
          <a:p>
            <a:pPr>
              <a:spcAft>
                <a:spcPts val="800"/>
              </a:spcAft>
              <a:defRPr sz="950">
                <a:solidFill>
                  <a:srgbClr val="2563EB"/>
                </a:solidFill>
                <a:latin typeface="Consolas"/>
              </a:defRPr>
            </a:pPr>
            <a:r>
              <a:t>ΔC = Actual Carrier Cost - Predicted Cost (INR ₹)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Lead-Time Variance (ΔD):</a:t>
            </a:r>
          </a:p>
          <a:p>
            <a:pPr>
              <a:spcAft>
                <a:spcPts val="800"/>
              </a:spcAft>
              <a:defRPr sz="950">
                <a:solidFill>
                  <a:srgbClr val="2563EB"/>
                </a:solidFill>
                <a:latin typeface="Consolas"/>
              </a:defRPr>
            </a:pPr>
            <a:r>
              <a:t>ΔD = Realized Delay Days - Predicted Delay Days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Disruption Loss Prevented:</a:t>
            </a:r>
          </a:p>
          <a:p>
            <a:pPr>
              <a:spcAft>
                <a:spcPts val="800"/>
              </a:spcAft>
              <a:defRPr sz="950">
                <a:solidFill>
                  <a:srgbClr val="2563EB"/>
                </a:solidFill>
                <a:latin typeface="Consolas"/>
              </a:defRPr>
            </a:pPr>
            <a:r>
              <a:t>Loss Prevented = Baseline Risk - Realized Cost (INR ₹)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Decision ROI (%):</a:t>
            </a:r>
          </a:p>
          <a:p>
            <a:pPr>
              <a:spcAft>
                <a:spcPts val="800"/>
              </a:spcAft>
              <a:defRPr sz="950">
                <a:solidFill>
                  <a:srgbClr val="2563EB"/>
                </a:solidFill>
                <a:latin typeface="Consolas"/>
              </a:defRPr>
            </a:pPr>
            <a:r>
              <a:t>ROI = ( Net Disruption Savings / Intervention Cost ) * 100%</a:t>
            </a:r>
          </a:p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✨ Breakthrough Advantage: Transforms static machine learning into an autonomous, self-healing operational intelligence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Modern Operational Decision Desk (Streamlit)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  <a:latin typeface="Segoe UI"/>
              </a:defRPr>
            </a:pPr>
            <a:r>
              <a:t>TAB 1: ⚡ Decision Desk (Action-Oriented)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 Smart Shipment Selector: Auto-prioritizes high-risk inventory by predicted delay probability and cargo criticality.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 Dynamic Budget Cap (₹): Interactive slider in Indian Rupees allows operators to inject real-time working capital constraints.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 3 Multi-Modal Action Cards: Clean comparative view displaying Expedite Cost (₹), Days Saved, SLA Compliance %, and Projected ROI.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 Optimal Badge Indicator: Highlights the mathematically optimal prescription determined by the MILP solver.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 🚀 1-Click Operational Execution: Instantly writes approved decision back to SQLite and updates shipment 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  <a:latin typeface="Segoe UI"/>
              </a:defRPr>
            </a:pPr>
            <a:r>
              <a:t>TAB 2: 📈 Closed-Loop Performance &amp; Audit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 Sync &amp; Realize Outcomes: 1-click batch simulation and ingestion of actual carrier invoices and freight bills.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 Quoted vs Realized Variance Chart: Interactive Plotly bar chart tracking carrier surcharges and cost variances in INR (₹).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 Realized Outcomes Ledger: Audit table showing actual costs, days saved, SLA compliance, and realized ROI %.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 🤖 Recalibrate Models: Triggers automated continuous retraining pipeline when outcome feedback exceeds threshold.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 Advanced Solver Diagnostics: Mathematical constraint compliance proof (100% compliance rate, zero budget violations).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Quantifiable Impact &amp; Operational ROI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42032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1762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059669"/>
                </a:solidFill>
                <a:latin typeface="Segoe UI"/>
              </a:defRPr>
            </a:pPr>
            <a:r>
              <a:t>₹3.7 Cr+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Disruption Loss Prevented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Cumulative financial losses averted across high-value delayed shipments.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280160"/>
            <a:ext cx="2542032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463040"/>
            <a:ext cx="21762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2563EB"/>
                </a:solidFill>
                <a:latin typeface="Segoe UI"/>
              </a:defRPr>
            </a:pPr>
            <a:r>
              <a:t>18.5%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Realized Decision ROI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Average financial return achieved per rupee invested in freight expediting.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280160"/>
            <a:ext cx="2542032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463040"/>
            <a:ext cx="21762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0EA5E9"/>
                </a:solidFill>
                <a:latin typeface="Segoe UI"/>
              </a:defRPr>
            </a:pPr>
            <a:r>
              <a:t>42.0%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SLA Breach Reduction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Significant drop in customer contractual penalties and late-delivery dispute fees.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280160"/>
            <a:ext cx="2542032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1463040"/>
            <a:ext cx="21762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D97706"/>
                </a:solidFill>
                <a:latin typeface="Segoe UI"/>
              </a:defRPr>
            </a:pPr>
            <a:r>
              <a:t>100.0%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Budget Constraint Compliance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Guaranteed zero-violation mathematical compliance under all tested constraints.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10728655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794760"/>
            <a:ext cx="10241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  <a:latin typeface="Segoe UI"/>
              </a:defRPr>
            </a:pPr>
            <a:r>
              <a:t>Strategic Executive Takeaways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From Reactive Chaos to Automated Intelligence: Supply Prescript replaces manual guessing with deterministic, mathematical optimization that guarantees constraint adherence.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Capital Preservation via Hard Constraints: Budget caps in Indian Rupees (₹) prevent expediting cost overruns while protecting high-value customer relationships.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Self-Healing Continuous Learning: Tracking quoted vs actual freight invoices closes the gap between prediction and reality, ensuring ML models stay perpetually aligned with shifting logistics markets.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SUMMARY &amp;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Complete Technological Stack &amp; Production Readiness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t>Production Technology Stack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 Frontend Application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Streamlit 1.40+ with custom CSS, responsive metric cards, Plotly charts, and localized INR (₹) controls.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 Prescriptive Solver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PuLP with COIN-OR Branch-and-Cut (CBC) Mixed-Integer Linear Programming.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 Predictive Models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XGBoost Classifier (Disruption probability) + XGBoost Regressor (Delay duration).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 Operational Database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ACID-compliant SQLite with Foreign Key constraints, transactional write-backs, and audit trails.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 REST API Layer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FastAPI transactional service for external ERP/WMS system integrations.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✔  Testing &amp; Quality</a:t>
            </a:r>
          </a:p>
          <a:p>
            <a:pPr>
              <a:spcAft>
                <a:spcPts val="8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100% automated Python unittest pipeline verifying solver compliance and data integrity.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t>Deployment &amp; Google Drive Integration</a:t>
            </a:r>
          </a:p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★  Google Drive / Google Slides Ready</a:t>
            </a:r>
          </a:p>
          <a:p>
            <a:pPr>
              <a:spcAft>
                <a:spcPts val="10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This .pptx file can be dragged directly into Google Drive and converted to Google Slides with 1-click fidelity.</a:t>
            </a:r>
          </a:p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★  1-Click Streamlit Cloud Deployment</a:t>
            </a:r>
          </a:p>
          <a:p>
            <a:pPr>
              <a:spcAft>
                <a:spcPts val="10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Configured with root streamlit_app.py and .streamlit/config.toml for instantaneous public/private cloud hosting.</a:t>
            </a:r>
          </a:p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★  Automated CI/CD Verification</a:t>
            </a:r>
          </a:p>
          <a:p>
            <a:pPr>
              <a:spcAft>
                <a:spcPts val="10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Tested across Python 3.10-3.13 with deterministic random seeds ensuring reproducibility.</a:t>
            </a:r>
          </a:p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★  GitHub Repository</a:t>
            </a:r>
          </a:p>
          <a:p>
            <a:pPr>
              <a:spcAft>
                <a:spcPts val="1000"/>
              </a:spcAft>
              <a:defRPr sz="950">
                <a:solidFill>
                  <a:srgbClr val="CBD5E1"/>
                </a:solidFill>
                <a:latin typeface="Segoe UI"/>
              </a:defRPr>
            </a:pPr>
            <a:r>
              <a:t>Fully version-controlled with comprehensive documentation, PROJECT_REPORT.md, and automated tests.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